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累计销量(辆)</c:v>
                </c:pt>
              </c:strCache>
            </c:strRef>
          </c:tx>
          <c:spPr>
            <a:solidFill>
              <a:srgbClr val="2B4570"/>
            </a:solidFill>
          </c:spPr>
          <c:cat>
            <c:strRef>
              <c:f>Sheet1!$A$2:$A$9</c:f>
              <c:strCache>
                <c:ptCount val="8"/>
                <c:pt idx="0">
                  <c:v>比亚迪</c:v>
                </c:pt>
                <c:pt idx="1">
                  <c:v>特斯拉</c:v>
                </c:pt>
                <c:pt idx="2">
                  <c:v>理想汽车</c:v>
                </c:pt>
                <c:pt idx="3">
                  <c:v>蔚来汽车</c:v>
                </c:pt>
                <c:pt idx="4">
                  <c:v>小鹏汽车</c:v>
                </c:pt>
                <c:pt idx="5">
                  <c:v>广汽埃安</c:v>
                </c:pt>
                <c:pt idx="6">
                  <c:v>长安深蓝</c:v>
                </c:pt>
                <c:pt idx="7">
                  <c:v>吉利银河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789562.0</c:v>
                </c:pt>
                <c:pt idx="1">
                  <c:v>452138.0</c:v>
                </c:pt>
                <c:pt idx="2">
                  <c:v>215698.0</c:v>
                </c:pt>
                <c:pt idx="3">
                  <c:v>168925.0</c:v>
                </c:pt>
                <c:pt idx="4">
                  <c:v>142365.0</c:v>
                </c:pt>
                <c:pt idx="5">
                  <c:v>125632.0</c:v>
                </c:pt>
                <c:pt idx="6">
                  <c:v>98756.0</c:v>
                </c:pt>
                <c:pt idx="7">
                  <c:v>85623.0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市场占比</c:v>
                </c:pt>
              </c:strCache>
            </c:strRef>
          </c:tx>
          <c:dPt>
            <c:idx val="0"/>
            <c:spPr>
              <a:solidFill>
                <a:srgbClr val="3A0CA3"/>
              </a:solidFill>
            </c:spPr>
          </c:dPt>
          <c:dPt>
            <c:idx val="1"/>
            <c:spPr>
              <a:solidFill>
                <a:srgbClr val="4361EE"/>
              </a:solidFill>
            </c:spPr>
          </c:dPt>
          <c:dPt>
            <c:idx val="2"/>
            <c:spPr>
              <a:solidFill>
                <a:srgbClr val="4CC9F0"/>
              </a:solidFill>
            </c:spPr>
          </c:dPt>
          <c:dPt>
            <c:idx val="3"/>
            <c:spPr>
              <a:solidFill>
                <a:srgbClr val="7209B7"/>
              </a:solidFill>
            </c:spPr>
          </c:dPt>
          <c:dPt>
            <c:idx val="4"/>
            <c:spPr>
              <a:solidFill>
                <a:srgbClr val="F72585"/>
              </a:solidFill>
            </c:spPr>
          </c:dPt>
          <c:dPt>
            <c:idx val="5"/>
            <c:spPr>
              <a:solidFill>
                <a:srgbClr val="4895EF"/>
              </a:solidFill>
            </c:spPr>
          </c:dPt>
          <c:dPt>
            <c:idx val="6"/>
            <c:spPr>
              <a:solidFill>
                <a:srgbClr val="560BAD"/>
              </a:solidFill>
            </c:spPr>
          </c:dPt>
          <c:dPt>
            <c:idx val="7"/>
            <c:spPr>
              <a:solidFill>
                <a:srgbClr val="B5179E"/>
              </a:solidFill>
            </c:spPr>
          </c:dPt>
          <c:cat>
            <c:strRef>
              <c:f>Sheet1!$A$2:$A$9</c:f>
              <c:strCache>
                <c:ptCount val="8"/>
                <c:pt idx="0">
                  <c:v>比亚迪</c:v>
                </c:pt>
                <c:pt idx="1">
                  <c:v>特斯拉</c:v>
                </c:pt>
                <c:pt idx="2">
                  <c:v>理想汽车</c:v>
                </c:pt>
                <c:pt idx="3">
                  <c:v>蔚来汽车</c:v>
                </c:pt>
                <c:pt idx="4">
                  <c:v>小鹏汽车</c:v>
                </c:pt>
                <c:pt idx="5">
                  <c:v>广汽埃安</c:v>
                </c:pt>
                <c:pt idx="6">
                  <c:v>长安深蓝</c:v>
                </c:pt>
                <c:pt idx="7">
                  <c:v>吉利银河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27.56</c:v>
                </c:pt>
                <c:pt idx="1">
                  <c:v>15.78</c:v>
                </c:pt>
                <c:pt idx="2">
                  <c:v>7.53</c:v>
                </c:pt>
                <c:pt idx="3">
                  <c:v>5.9</c:v>
                </c:pt>
                <c:pt idx="4">
                  <c:v>4.97</c:v>
                </c:pt>
                <c:pt idx="5">
                  <c:v>4.38</c:v>
                </c:pt>
                <c:pt idx="6">
                  <c:v>3.45</c:v>
                </c:pt>
                <c:pt idx="7">
                  <c:v>2.99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比亚迪</c:v>
                </c:pt>
              </c:strCache>
            </c:strRef>
          </c:tx>
          <c:spPr>
            <a:ln w="25400">
              <a:solidFill>
                <a:srgbClr val="3A0CA3"/>
              </a:solidFill>
            </a:ln>
          </c:spPr>
          <c:marker>
            <c:symbol val="circle"/>
            <c:size val="6"/>
            <c:spPr>
              <a:solidFill>
                <a:srgbClr val="3A0CA3"/>
              </a:solidFill>
              <a:ln>
                <a:solidFill>
                  <a:srgbClr val="3A0CA3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2026年1月</c:v>
                </c:pt>
                <c:pt idx="1">
                  <c:v>2026年2月</c:v>
                </c:pt>
                <c:pt idx="2">
                  <c:v>2026年3月</c:v>
                </c:pt>
                <c:pt idx="3">
                  <c:v>2026年4月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185623.0</c:v>
                </c:pt>
                <c:pt idx="1">
                  <c:v>201256.0</c:v>
                </c:pt>
                <c:pt idx="2">
                  <c:v>198562.0</c:v>
                </c:pt>
                <c:pt idx="3">
                  <c:v>204121.0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理想汽车</c:v>
                </c:pt>
              </c:strCache>
            </c:strRef>
          </c:tx>
          <c:spPr>
            <a:ln w="25400">
              <a:solidFill>
                <a:srgbClr val="4361EE"/>
              </a:solidFill>
            </a:ln>
          </c:spPr>
          <c:marker>
            <c:symbol val="circle"/>
            <c:size val="6"/>
            <c:spPr>
              <a:solidFill>
                <a:srgbClr val="4361EE"/>
              </a:solidFill>
              <a:ln>
                <a:solidFill>
                  <a:srgbClr val="4361EE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2026年1月</c:v>
                </c:pt>
                <c:pt idx="1">
                  <c:v>2026年2月</c:v>
                </c:pt>
                <c:pt idx="2">
                  <c:v>2026年3月</c:v>
                </c:pt>
                <c:pt idx="3">
                  <c:v>2026年4月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48965.0</c:v>
                </c:pt>
                <c:pt idx="1">
                  <c:v>52136.0</c:v>
                </c:pt>
                <c:pt idx="2">
                  <c:v>55623.0</c:v>
                </c:pt>
                <c:pt idx="3">
                  <c:v>58974.0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蔚来汽车</c:v>
                </c:pt>
              </c:strCache>
            </c:strRef>
          </c:tx>
          <c:spPr>
            <a:ln w="25400">
              <a:solidFill>
                <a:srgbClr val="4CC9F0"/>
              </a:solidFill>
            </a:ln>
          </c:spPr>
          <c:marker>
            <c:symbol val="circle"/>
            <c:size val="6"/>
            <c:spPr>
              <a:solidFill>
                <a:srgbClr val="4CC9F0"/>
              </a:solidFill>
              <a:ln>
                <a:solidFill>
                  <a:srgbClr val="4CC9F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2026年1月</c:v>
                </c:pt>
                <c:pt idx="1">
                  <c:v>2026年2月</c:v>
                </c:pt>
                <c:pt idx="2">
                  <c:v>2026年3月</c:v>
                </c:pt>
                <c:pt idx="3">
                  <c:v>2026年4月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38521.0</c:v>
                </c:pt>
                <c:pt idx="1">
                  <c:v>41258.0</c:v>
                </c:pt>
                <c:pt idx="2">
                  <c:v>43256.0</c:v>
                </c:pt>
                <c:pt idx="3">
                  <c:v>45890.0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小鹏汽车</c:v>
                </c:pt>
              </c:strCache>
            </c:strRef>
          </c:tx>
          <c:spPr>
            <a:ln w="25400">
              <a:solidFill>
                <a:srgbClr val="7209B7"/>
              </a:solidFill>
            </a:ln>
          </c:spPr>
          <c:marker>
            <c:symbol val="circle"/>
            <c:size val="6"/>
            <c:spPr>
              <a:solidFill>
                <a:srgbClr val="7209B7"/>
              </a:solidFill>
              <a:ln>
                <a:solidFill>
                  <a:srgbClr val="7209B7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2026年1月</c:v>
                </c:pt>
                <c:pt idx="1">
                  <c:v>2026年2月</c:v>
                </c:pt>
                <c:pt idx="2">
                  <c:v>2026年3月</c:v>
                </c:pt>
                <c:pt idx="3">
                  <c:v>2026年4月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32145.0</c:v>
                </c:pt>
                <c:pt idx="1">
                  <c:v>35621.0</c:v>
                </c:pt>
                <c:pt idx="2">
                  <c:v>36985.0</c:v>
                </c:pt>
                <c:pt idx="3">
                  <c:v>37614.0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广汽埃安</c:v>
                </c:pt>
              </c:strCache>
            </c:strRef>
          </c:tx>
          <c:spPr>
            <a:ln w="25400">
              <a:solidFill>
                <a:srgbClr val="F72585"/>
              </a:solidFill>
            </a:ln>
          </c:spPr>
          <c:marker>
            <c:symbol val="circle"/>
            <c:size val="6"/>
            <c:spPr>
              <a:solidFill>
                <a:srgbClr val="F72585"/>
              </a:solidFill>
              <a:ln>
                <a:solidFill>
                  <a:srgbClr val="F7258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2026年1月</c:v>
                </c:pt>
                <c:pt idx="1">
                  <c:v>2026年2月</c:v>
                </c:pt>
                <c:pt idx="2">
                  <c:v>2026年3月</c:v>
                </c:pt>
                <c:pt idx="3">
                  <c:v>2026年4月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28965.0</c:v>
                </c:pt>
                <c:pt idx="1">
                  <c:v>30258.0</c:v>
                </c:pt>
                <c:pt idx="2">
                  <c:v>32145.0</c:v>
                </c:pt>
                <c:pt idx="3">
                  <c:v>34264.0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长安深蓝</c:v>
                </c:pt>
              </c:strCache>
            </c:strRef>
          </c:tx>
          <c:spPr>
            <a:ln w="25400">
              <a:solidFill>
                <a:srgbClr val="4895EF"/>
              </a:solidFill>
            </a:ln>
          </c:spPr>
          <c:marker>
            <c:symbol val="circle"/>
            <c:size val="6"/>
            <c:spPr>
              <a:solidFill>
                <a:srgbClr val="4895EF"/>
              </a:solidFill>
              <a:ln>
                <a:solidFill>
                  <a:srgbClr val="4895E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2026年1月</c:v>
                </c:pt>
                <c:pt idx="1">
                  <c:v>2026年2月</c:v>
                </c:pt>
                <c:pt idx="2">
                  <c:v>2026年3月</c:v>
                </c:pt>
                <c:pt idx="3">
                  <c:v>2026年4月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22158.0</c:v>
                </c:pt>
                <c:pt idx="1">
                  <c:v>24562.0</c:v>
                </c:pt>
                <c:pt idx="2">
                  <c:v>25632.0</c:v>
                </c:pt>
                <c:pt idx="3">
                  <c:v>26404.0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22317.3"/>
          <c:min val="3961.7000000000007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  <c:majorUnit val="40000.0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累计销量(辆)</c:v>
                </c:pt>
              </c:strCache>
            </c:strRef>
          </c:tx>
          <c:spPr>
            <a:solidFill>
              <a:srgbClr val="A47864"/>
            </a:solidFill>
          </c:spPr>
          <c:cat>
            <c:strRef>
              <c:f>Sheet1!$A$2:$A$6</c:f>
              <c:strCache>
                <c:ptCount val="5"/>
                <c:pt idx="0">
                  <c:v>紧凑型轿车</c:v>
                </c:pt>
                <c:pt idx="1">
                  <c:v>中型SUV</c:v>
                </c:pt>
                <c:pt idx="2">
                  <c:v>中大型轿车</c:v>
                </c:pt>
                <c:pt idx="3">
                  <c:v>紧凑型SUV</c:v>
                </c:pt>
                <c:pt idx="4">
                  <c:v>其他车型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985623.0</c:v>
                </c:pt>
                <c:pt idx="1">
                  <c:v>875236.0</c:v>
                </c:pt>
                <c:pt idx="2">
                  <c:v>425698.0</c:v>
                </c:pt>
                <c:pt idx="3">
                  <c:v>325621.0</c:v>
                </c:pt>
                <c:pt idx="4">
                  <c:v>252322.0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同比增长率</c:v>
                </c:pt>
              </c:strCache>
            </c:strRef>
          </c:tx>
          <c:dPt>
            <c:idx val="0"/>
            <c:spPr>
              <a:solidFill>
                <a:srgbClr val="E63946"/>
              </a:solidFill>
            </c:spPr>
          </c:dPt>
          <c:dPt>
            <c:idx val="1"/>
            <c:spPr>
              <a:solidFill>
                <a:srgbClr val="457B9D"/>
              </a:solidFill>
            </c:spPr>
          </c:dPt>
          <c:dPt>
            <c:idx val="2"/>
            <c:spPr>
              <a:solidFill>
                <a:srgbClr val="1D3557"/>
              </a:solidFill>
            </c:spPr>
          </c:dPt>
          <c:dPt>
            <c:idx val="3"/>
            <c:spPr>
              <a:solidFill>
                <a:srgbClr val="A8DADC"/>
              </a:solidFill>
            </c:spPr>
          </c:dPt>
          <c:dPt>
            <c:idx val="4"/>
            <c:spPr>
              <a:solidFill>
                <a:srgbClr val="F1FAEE"/>
              </a:solidFill>
            </c:spPr>
          </c:dPt>
          <c:cat>
            <c:strRef>
              <c:f>Sheet1!$A$2:$A$6</c:f>
              <c:strCache>
                <c:ptCount val="5"/>
                <c:pt idx="0">
                  <c:v>紧凑型轿车</c:v>
                </c:pt>
                <c:pt idx="1">
                  <c:v>中型SUV</c:v>
                </c:pt>
                <c:pt idx="2">
                  <c:v>中大型轿车</c:v>
                </c:pt>
                <c:pt idx="3">
                  <c:v>紧凑型SUV</c:v>
                </c:pt>
                <c:pt idx="4">
                  <c:v>其他车型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28.76</c:v>
                </c:pt>
                <c:pt idx="1">
                  <c:v>35.21</c:v>
                </c:pt>
                <c:pt idx="2">
                  <c:v>42.15</c:v>
                </c:pt>
                <c:pt idx="3">
                  <c:v>22.45</c:v>
                </c:pt>
                <c:pt idx="4">
                  <c:v>31.02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较行业平均差值</c:v>
                </c:pt>
              </c:strCache>
            </c:strRef>
          </c:tx>
          <c:spPr>
            <a:solidFill>
              <a:srgbClr val="E63946"/>
            </a:solidFill>
          </c:spPr>
          <c:cat>
            <c:strRef>
              <c:f>Sheet1!$A$2:$A$10</c:f>
              <c:strCache>
                <c:ptCount val="9"/>
                <c:pt idx="0">
                  <c:v>长安深蓝</c:v>
                </c:pt>
                <c:pt idx="1">
                  <c:v>比亚迪</c:v>
                </c:pt>
                <c:pt idx="2">
                  <c:v>吉利银河</c:v>
                </c:pt>
                <c:pt idx="3">
                  <c:v>理想汽车</c:v>
                </c:pt>
                <c:pt idx="4">
                  <c:v>小鹏汽车</c:v>
                </c:pt>
                <c:pt idx="5">
                  <c:v>行业平均</c:v>
                </c:pt>
                <c:pt idx="6">
                  <c:v>特斯拉</c:v>
                </c:pt>
                <c:pt idx="7">
                  <c:v>蔚来汽车</c:v>
                </c:pt>
                <c:pt idx="8">
                  <c:v>广汽埃安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0.13</c:v>
                </c:pt>
                <c:pt idx="1">
                  <c:v>0.1</c:v>
                </c:pt>
                <c:pt idx="2">
                  <c:v>0.07</c:v>
                </c:pt>
                <c:pt idx="3">
                  <c:v>0.03</c:v>
                </c:pt>
                <c:pt idx="4">
                  <c:v>-0.01</c:v>
                </c:pt>
                <c:pt idx="5">
                  <c:v>0.0</c:v>
                </c:pt>
                <c:pt idx="6">
                  <c:v>-0.03</c:v>
                </c:pt>
                <c:pt idx="7">
                  <c:v>-0.1</c:v>
                </c:pt>
                <c:pt idx="8">
                  <c:v>-0.13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同比增长率</c:v>
                </c:pt>
              </c:strCache>
            </c:strRef>
          </c:tx>
          <c:dPt>
            <c:idx val="0"/>
            <c:spPr>
              <a:solidFill>
                <a:srgbClr val="264653"/>
              </a:solidFill>
            </c:spPr>
          </c:dPt>
          <c:dPt>
            <c:idx val="1"/>
            <c:spPr>
              <a:solidFill>
                <a:srgbClr val="2A9D8F"/>
              </a:solidFill>
            </c:spPr>
          </c:dPt>
          <c:dPt>
            <c:idx val="2"/>
            <c:spPr>
              <a:solidFill>
                <a:srgbClr val="E9C46A"/>
              </a:solidFill>
            </c:spPr>
          </c:dPt>
          <c:dPt>
            <c:idx val="3"/>
            <c:spPr>
              <a:solidFill>
                <a:srgbClr val="F4A261"/>
              </a:solidFill>
            </c:spPr>
          </c:dPt>
          <c:dPt>
            <c:idx val="4"/>
            <c:spPr>
              <a:solidFill>
                <a:srgbClr val="E76F51"/>
              </a:solidFill>
            </c:spPr>
          </c:dPt>
          <c:dPt>
            <c:idx val="5"/>
            <c:spPr>
              <a:solidFill>
                <a:srgbClr val="606C38"/>
              </a:solidFill>
            </c:spPr>
          </c:dPt>
          <c:dPt>
            <c:idx val="6"/>
            <c:spPr>
              <a:solidFill>
                <a:srgbClr val="283618"/>
              </a:solidFill>
            </c:spPr>
          </c:dPt>
          <c:dPt>
            <c:idx val="7"/>
            <c:spPr>
              <a:solidFill>
                <a:srgbClr val="DDA15E"/>
              </a:solidFill>
            </c:spPr>
          </c:dPt>
          <c:dPt>
            <c:idx val="8"/>
            <c:spPr>
              <a:solidFill>
                <a:srgbClr val="264653"/>
              </a:solidFill>
            </c:spPr>
          </c:dPt>
          <c:cat>
            <c:strRef>
              <c:f>Sheet1!$A$2:$A$10</c:f>
              <c:strCache>
                <c:ptCount val="9"/>
                <c:pt idx="0">
                  <c:v>长安深蓝</c:v>
                </c:pt>
                <c:pt idx="1">
                  <c:v>比亚迪</c:v>
                </c:pt>
                <c:pt idx="2">
                  <c:v>吉利银河</c:v>
                </c:pt>
                <c:pt idx="3">
                  <c:v>理想汽车</c:v>
                </c:pt>
                <c:pt idx="4">
                  <c:v>小鹏汽车</c:v>
                </c:pt>
                <c:pt idx="5">
                  <c:v>行业平均</c:v>
                </c:pt>
                <c:pt idx="6">
                  <c:v>特斯拉</c:v>
                </c:pt>
                <c:pt idx="7">
                  <c:v>蔚来汽车</c:v>
                </c:pt>
                <c:pt idx="8">
                  <c:v>广汽埃安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45.23</c:v>
                </c:pt>
                <c:pt idx="1">
                  <c:v>42.15</c:v>
                </c:pt>
                <c:pt idx="2">
                  <c:v>38.91</c:v>
                </c:pt>
                <c:pt idx="3">
                  <c:v>35.21</c:v>
                </c:pt>
                <c:pt idx="4">
                  <c:v>31.02</c:v>
                </c:pt>
                <c:pt idx="5">
                  <c:v>32.1</c:v>
                </c:pt>
                <c:pt idx="6">
                  <c:v>28.76</c:v>
                </c:pt>
                <c:pt idx="7">
                  <c:v>22.45</c:v>
                </c:pt>
                <c:pt idx="8">
                  <c:v>18.76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同比增长率</c:v>
                </c:pt>
              </c:strCache>
            </c:strRef>
          </c:tx>
          <c:dPt>
            <c:idx val="0"/>
            <c:spPr>
              <a:solidFill>
                <a:srgbClr val="264653"/>
              </a:solidFill>
            </c:spPr>
          </c:dPt>
          <c:dPt>
            <c:idx val="1"/>
            <c:spPr>
              <a:solidFill>
                <a:srgbClr val="2A9D8F"/>
              </a:solidFill>
            </c:spPr>
          </c:dPt>
          <c:dPt>
            <c:idx val="2"/>
            <c:spPr>
              <a:solidFill>
                <a:srgbClr val="E9C46A"/>
              </a:solidFill>
            </c:spPr>
          </c:dPt>
          <c:dPt>
            <c:idx val="3"/>
            <c:spPr>
              <a:solidFill>
                <a:srgbClr val="F4A261"/>
              </a:solidFill>
            </c:spPr>
          </c:dPt>
          <c:dPt>
            <c:idx val="4"/>
            <c:spPr>
              <a:solidFill>
                <a:srgbClr val="E76F51"/>
              </a:solidFill>
            </c:spPr>
          </c:dPt>
          <c:dPt>
            <c:idx val="5"/>
            <c:spPr>
              <a:solidFill>
                <a:srgbClr val="606C38"/>
              </a:solidFill>
            </c:spPr>
          </c:dPt>
          <c:dPt>
            <c:idx val="6"/>
            <c:spPr>
              <a:solidFill>
                <a:srgbClr val="283618"/>
              </a:solidFill>
            </c:spPr>
          </c:dPt>
          <c:dPt>
            <c:idx val="7"/>
            <c:spPr>
              <a:solidFill>
                <a:srgbClr val="DDA15E"/>
              </a:solidFill>
            </c:spPr>
          </c:dPt>
          <c:dPt>
            <c:idx val="8"/>
            <c:spPr>
              <a:solidFill>
                <a:srgbClr val="264653"/>
              </a:solidFill>
            </c:spPr>
          </c:dPt>
          <c:dPt>
            <c:idx val="9"/>
            <c:spPr>
              <a:solidFill>
                <a:srgbClr val="2A9D8F"/>
              </a:solidFill>
            </c:spPr>
          </c:dPt>
          <c:cat>
            <c:strRef>
              <c:f>Sheet1!$A$2:$A$11</c:f>
              <c:strCache>
                <c:ptCount val="10"/>
                <c:pt idx="0">
                  <c:v>上海市</c:v>
                </c:pt>
                <c:pt idx="1">
                  <c:v>深圳市</c:v>
                </c:pt>
                <c:pt idx="2">
                  <c:v>北京市</c:v>
                </c:pt>
                <c:pt idx="3">
                  <c:v>广州市</c:v>
                </c:pt>
                <c:pt idx="4">
                  <c:v>杭州市</c:v>
                </c:pt>
                <c:pt idx="5">
                  <c:v>成都市</c:v>
                </c:pt>
                <c:pt idx="6">
                  <c:v>重庆市</c:v>
                </c:pt>
                <c:pt idx="7">
                  <c:v>武汉市</c:v>
                </c:pt>
                <c:pt idx="8">
                  <c:v>南京市</c:v>
                </c:pt>
                <c:pt idx="9">
                  <c:v>苏州市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35.21</c:v>
                </c:pt>
                <c:pt idx="1">
                  <c:v>42.15</c:v>
                </c:pt>
                <c:pt idx="2">
                  <c:v>28.76</c:v>
                </c:pt>
                <c:pt idx="3">
                  <c:v>31.02</c:v>
                </c:pt>
                <c:pt idx="4">
                  <c:v>38.91</c:v>
                </c:pt>
                <c:pt idx="5">
                  <c:v>45.23</c:v>
                </c:pt>
                <c:pt idx="6">
                  <c:v>22.45</c:v>
                </c:pt>
                <c:pt idx="7">
                  <c:v>35.21</c:v>
                </c:pt>
                <c:pt idx="8">
                  <c:v>31.02</c:v>
                </c:pt>
                <c:pt idx="9">
                  <c:v>38.91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市场渗透率</c:v>
                </c:pt>
              </c:strCache>
            </c:strRef>
          </c:tx>
          <c:spPr>
            <a:solidFill>
              <a:srgbClr val="06D6A0"/>
            </a:solidFill>
          </c:spPr>
          <c:cat>
            <c:strRef>
              <c:f>Sheet1!$A$2:$A$11</c:f>
              <c:strCache>
                <c:ptCount val="10"/>
                <c:pt idx="0">
                  <c:v>上海市</c:v>
                </c:pt>
                <c:pt idx="1">
                  <c:v>深圳市</c:v>
                </c:pt>
                <c:pt idx="2">
                  <c:v>北京市</c:v>
                </c:pt>
                <c:pt idx="3">
                  <c:v>广州市</c:v>
                </c:pt>
                <c:pt idx="4">
                  <c:v>杭州市</c:v>
                </c:pt>
                <c:pt idx="5">
                  <c:v>成都市</c:v>
                </c:pt>
                <c:pt idx="6">
                  <c:v>重庆市</c:v>
                </c:pt>
                <c:pt idx="7">
                  <c:v>武汉市</c:v>
                </c:pt>
                <c:pt idx="8">
                  <c:v>南京市</c:v>
                </c:pt>
                <c:pt idx="9">
                  <c:v>苏州市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62.35</c:v>
                </c:pt>
                <c:pt idx="1">
                  <c:v>58.96</c:v>
                </c:pt>
                <c:pt idx="2">
                  <c:v>55.23</c:v>
                </c:pt>
                <c:pt idx="3">
                  <c:v>52.15</c:v>
                </c:pt>
                <c:pt idx="4">
                  <c:v>50.23</c:v>
                </c:pt>
                <c:pt idx="5">
                  <c:v>48.96</c:v>
                </c:pt>
                <c:pt idx="6">
                  <c:v>47.52</c:v>
                </c:pt>
                <c:pt idx="7">
                  <c:v>46.23</c:v>
                </c:pt>
                <c:pt idx="8">
                  <c:v>45.89</c:v>
                </c:pt>
                <c:pt idx="9">
                  <c:v>45.23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073B4C"/>
            </a:solidFill>
          </c:spPr>
          <c:cat>
            <c:strRef>
              <c:f>Sheet1!$A$2:$A$11</c:f>
              <c:strCache>
                <c:ptCount val="10"/>
                <c:pt idx="0">
                  <c:v>上海市</c:v>
                </c:pt>
                <c:pt idx="1">
                  <c:v>深圳市</c:v>
                </c:pt>
                <c:pt idx="2">
                  <c:v>北京市</c:v>
                </c:pt>
                <c:pt idx="3">
                  <c:v>广州市</c:v>
                </c:pt>
                <c:pt idx="4">
                  <c:v>杭州市</c:v>
                </c:pt>
                <c:pt idx="5">
                  <c:v>成都市</c:v>
                </c:pt>
                <c:pt idx="6">
                  <c:v>重庆市</c:v>
                </c:pt>
                <c:pt idx="7">
                  <c:v>武汉市</c:v>
                </c:pt>
                <c:pt idx="8">
                  <c:v>南京市</c:v>
                </c:pt>
                <c:pt idx="9">
                  <c:v>苏州市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450.4</c:v>
                </c:pt>
                <c:pt idx="1">
                  <c:v>453.79</c:v>
                </c:pt>
                <c:pt idx="2">
                  <c:v>457.52</c:v>
                </c:pt>
                <c:pt idx="3">
                  <c:v>460.6</c:v>
                </c:pt>
                <c:pt idx="4">
                  <c:v>462.52</c:v>
                </c:pt>
                <c:pt idx="5">
                  <c:v>463.79</c:v>
                </c:pt>
                <c:pt idx="6">
                  <c:v>465.23</c:v>
                </c:pt>
                <c:pt idx="7">
                  <c:v>466.52</c:v>
                </c:pt>
                <c:pt idx="8">
                  <c:v>466.86</c:v>
                </c:pt>
                <c:pt idx="9">
                  <c:v>467.52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累计销量(辆)</c:v>
                </c:pt>
              </c:strCache>
            </c:strRef>
          </c:tx>
          <c:spPr>
            <a:solidFill>
              <a:srgbClr val="06D6A0"/>
            </a:solidFill>
          </c:spPr>
          <c:cat>
            <c:strRef>
              <c:f>Sheet1!$A$2:$A$5</c:f>
              <c:strCache>
                <c:ptCount val="4"/>
                <c:pt idx="0">
                  <c:v>纯电动(BEV)</c:v>
                </c:pt>
                <c:pt idx="1">
                  <c:v>插电混动(PHEV)</c:v>
                </c:pt>
                <c:pt idx="2">
                  <c:v>增程式(EREV)</c:v>
                </c:pt>
                <c:pt idx="3">
                  <c:v>其他类型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1985623.0</c:v>
                </c:pt>
                <c:pt idx="1">
                  <c:v>752365.0</c:v>
                </c:pt>
                <c:pt idx="2">
                  <c:v>125632.0</c:v>
                </c:pt>
                <c:pt idx="3">
                  <c:v>1380.0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同比增长率</c:v>
                </c:pt>
              </c:strCache>
            </c:strRef>
          </c:tx>
          <c:dPt>
            <c:idx val="0"/>
            <c:spPr>
              <a:solidFill>
                <a:srgbClr val="005F73"/>
              </a:solidFill>
            </c:spPr>
          </c:dPt>
          <c:dPt>
            <c:idx val="1"/>
            <c:spPr>
              <a:solidFill>
                <a:srgbClr val="0A9396"/>
              </a:solidFill>
            </c:spPr>
          </c:dPt>
          <c:dPt>
            <c:idx val="2"/>
            <c:spPr>
              <a:solidFill>
                <a:srgbClr val="94D2BD"/>
              </a:solidFill>
            </c:spPr>
          </c:dPt>
          <c:dPt>
            <c:idx val="3"/>
            <c:spPr>
              <a:solidFill>
                <a:srgbClr val="EE9B00"/>
              </a:solidFill>
            </c:spPr>
          </c:dPt>
          <c:cat>
            <c:strRef>
              <c:f>Sheet1!$A$2:$A$5</c:f>
              <c:strCache>
                <c:ptCount val="4"/>
                <c:pt idx="0">
                  <c:v>纯电动(BEV)</c:v>
                </c:pt>
                <c:pt idx="1">
                  <c:v>插电混动(PHEV)</c:v>
                </c:pt>
                <c:pt idx="2">
                  <c:v>增程式(EREV)</c:v>
                </c:pt>
                <c:pt idx="3">
                  <c:v>其他类型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35.21</c:v>
                </c:pt>
                <c:pt idx="1">
                  <c:v>28.76</c:v>
                </c:pt>
                <c:pt idx="2">
                  <c:v>42.15</c:v>
                </c:pt>
                <c:pt idx="3">
                  <c:v>18.76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同比变动</c:v>
                </c:pt>
              </c:strCache>
            </c:strRef>
          </c:tx>
          <c:spPr>
            <a:solidFill>
              <a:srgbClr val="005F73"/>
            </a:solidFill>
          </c:spPr>
          <c:cat>
            <c:strRef>
              <c:f>Sheet1!$A$2:$A$9</c:f>
              <c:strCache>
                <c:ptCount val="8"/>
                <c:pt idx="0">
                  <c:v>蔚来汽车</c:v>
                </c:pt>
                <c:pt idx="1">
                  <c:v>理想汽车</c:v>
                </c:pt>
                <c:pt idx="2">
                  <c:v>特斯拉</c:v>
                </c:pt>
                <c:pt idx="3">
                  <c:v>小鹏汽车</c:v>
                </c:pt>
                <c:pt idx="4">
                  <c:v>比亚迪</c:v>
                </c:pt>
                <c:pt idx="5">
                  <c:v>广汽埃安</c:v>
                </c:pt>
                <c:pt idx="6">
                  <c:v>长安深蓝</c:v>
                </c:pt>
                <c:pt idx="7">
                  <c:v>吉利银河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0.05</c:v>
                </c:pt>
                <c:pt idx="1">
                  <c:v>0.09</c:v>
                </c:pt>
                <c:pt idx="2">
                  <c:v>-0.02</c:v>
                </c:pt>
                <c:pt idx="3">
                  <c:v>0.03</c:v>
                </c:pt>
                <c:pt idx="4">
                  <c:v>0.06</c:v>
                </c:pt>
                <c:pt idx="5">
                  <c:v>0.02</c:v>
                </c:pt>
                <c:pt idx="6">
                  <c:v>0.04</c:v>
                </c:pt>
                <c:pt idx="7">
                  <c:v>0.04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同比增长率</c:v>
                </c:pt>
              </c:strCache>
            </c:strRef>
          </c:tx>
          <c:dPt>
            <c:idx val="0"/>
            <c:spPr>
              <a:solidFill>
                <a:srgbClr val="FF6B6B"/>
              </a:solidFill>
            </c:spPr>
          </c:dPt>
          <c:dPt>
            <c:idx val="1"/>
            <c:spPr>
              <a:solidFill>
                <a:srgbClr val="C0D6DF"/>
              </a:solidFill>
            </c:spPr>
          </c:dPt>
          <c:dPt>
            <c:idx val="2"/>
            <c:spPr>
              <a:solidFill>
                <a:srgbClr val="4ECDC4"/>
              </a:solidFill>
            </c:spPr>
          </c:dPt>
          <c:dPt>
            <c:idx val="3"/>
            <c:spPr>
              <a:solidFill>
                <a:srgbClr val="FFE66D"/>
              </a:solidFill>
            </c:spPr>
          </c:dPt>
          <c:dPt>
            <c:idx val="4"/>
            <c:spPr>
              <a:solidFill>
                <a:srgbClr val="95E1D3"/>
              </a:solidFill>
            </c:spPr>
          </c:dPt>
          <c:dPt>
            <c:idx val="5"/>
            <c:spPr>
              <a:solidFill>
                <a:srgbClr val="F38181"/>
              </a:solidFill>
            </c:spPr>
          </c:dPt>
          <c:dPt>
            <c:idx val="6"/>
            <c:spPr>
              <a:solidFill>
                <a:srgbClr val="AA96DA"/>
              </a:solidFill>
            </c:spPr>
          </c:dPt>
          <c:dPt>
            <c:idx val="7"/>
            <c:spPr>
              <a:solidFill>
                <a:srgbClr val="A8D8EA"/>
              </a:solidFill>
            </c:spPr>
          </c:dPt>
          <c:cat>
            <c:strRef>
              <c:f>Sheet1!$A$2:$A$9</c:f>
              <c:strCache>
                <c:ptCount val="8"/>
                <c:pt idx="0">
                  <c:v>比亚迪</c:v>
                </c:pt>
                <c:pt idx="1">
                  <c:v>特斯拉</c:v>
                </c:pt>
                <c:pt idx="2">
                  <c:v>上汽集团</c:v>
                </c:pt>
                <c:pt idx="3">
                  <c:v>广汽埃安</c:v>
                </c:pt>
                <c:pt idx="4">
                  <c:v>长安汽车</c:v>
                </c:pt>
                <c:pt idx="5">
                  <c:v>吉利汽车</c:v>
                </c:pt>
                <c:pt idx="6">
                  <c:v>蔚来汽车</c:v>
                </c:pt>
                <c:pt idx="7">
                  <c:v>小鹏汽车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85.23</c:v>
                </c:pt>
                <c:pt idx="1">
                  <c:v>32.15</c:v>
                </c:pt>
                <c:pt idx="2">
                  <c:v>68.76</c:v>
                </c:pt>
                <c:pt idx="3">
                  <c:v>95.21</c:v>
                </c:pt>
                <c:pt idx="4">
                  <c:v>72.35</c:v>
                </c:pt>
                <c:pt idx="5">
                  <c:v>65.21</c:v>
                </c:pt>
                <c:pt idx="6">
                  <c:v>58.76</c:v>
                </c:pt>
                <c:pt idx="7">
                  <c:v>62.35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产品质量</c:v>
                </c:pt>
              </c:strCache>
            </c:strRef>
          </c:tx>
          <c:spPr>
            <a:solidFill>
              <a:srgbClr val="2B4570"/>
            </a:solidFill>
            <a:ln w="19050">
              <a:solidFill>
                <a:srgbClr val="2B4570"/>
              </a:solidFill>
            </a:ln>
          </c:spPr>
          <c:cat>
            <c:strRef>
              <c:f>Sheet1!$A$2:$A$9</c:f>
              <c:strCache>
                <c:ptCount val="8"/>
                <c:pt idx="0">
                  <c:v>蔚来汽车</c:v>
                </c:pt>
                <c:pt idx="1">
                  <c:v>理想汽车</c:v>
                </c:pt>
                <c:pt idx="2">
                  <c:v>特斯拉</c:v>
                </c:pt>
                <c:pt idx="3">
                  <c:v>比亚迪</c:v>
                </c:pt>
                <c:pt idx="4">
                  <c:v>小鹏汽车</c:v>
                </c:pt>
                <c:pt idx="5">
                  <c:v>广汽埃安</c:v>
                </c:pt>
                <c:pt idx="6">
                  <c:v>长安深蓝</c:v>
                </c:pt>
                <c:pt idx="7">
                  <c:v>吉利银河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4.82</c:v>
                </c:pt>
                <c:pt idx="1">
                  <c:v>4.85</c:v>
                </c:pt>
                <c:pt idx="2">
                  <c:v>4.88</c:v>
                </c:pt>
                <c:pt idx="3">
                  <c:v>4.75</c:v>
                </c:pt>
                <c:pt idx="4">
                  <c:v>4.65</c:v>
                </c:pt>
                <c:pt idx="5">
                  <c:v>4.68</c:v>
                </c:pt>
                <c:pt idx="6">
                  <c:v>4.62</c:v>
                </c:pt>
                <c:pt idx="7">
                  <c:v>4.58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售后服务</c:v>
                </c:pt>
              </c:strCache>
            </c:strRef>
          </c:tx>
          <c:spPr>
            <a:solidFill>
              <a:srgbClr val="4361EE"/>
            </a:solidFill>
            <a:ln w="19050">
              <a:solidFill>
                <a:srgbClr val="4361EE"/>
              </a:solidFill>
            </a:ln>
          </c:spPr>
          <c:cat>
            <c:strRef>
              <c:f>Sheet1!$A$2:$A$9</c:f>
              <c:strCache>
                <c:ptCount val="8"/>
                <c:pt idx="0">
                  <c:v>蔚来汽车</c:v>
                </c:pt>
                <c:pt idx="1">
                  <c:v>理想汽车</c:v>
                </c:pt>
                <c:pt idx="2">
                  <c:v>特斯拉</c:v>
                </c:pt>
                <c:pt idx="3">
                  <c:v>比亚迪</c:v>
                </c:pt>
                <c:pt idx="4">
                  <c:v>小鹏汽车</c:v>
                </c:pt>
                <c:pt idx="5">
                  <c:v>广汽埃安</c:v>
                </c:pt>
                <c:pt idx="6">
                  <c:v>长安深蓝</c:v>
                </c:pt>
                <c:pt idx="7">
                  <c:v>吉利银河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4.95</c:v>
                </c:pt>
                <c:pt idx="1">
                  <c:v>4.88</c:v>
                </c:pt>
                <c:pt idx="2">
                  <c:v>4.65</c:v>
                </c:pt>
                <c:pt idx="3">
                  <c:v>4.68</c:v>
                </c:pt>
                <c:pt idx="4">
                  <c:v>4.72</c:v>
                </c:pt>
                <c:pt idx="5">
                  <c:v>4.58</c:v>
                </c:pt>
                <c:pt idx="6">
                  <c:v>4.55</c:v>
                </c:pt>
                <c:pt idx="7">
                  <c:v>4.48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智能体验</c:v>
                </c:pt>
              </c:strCache>
            </c:strRef>
          </c:tx>
          <c:spPr>
            <a:solidFill>
              <a:srgbClr val="D9A066"/>
            </a:solidFill>
          </c:spPr>
          <c:cat>
            <c:strRef>
              <c:f>Sheet1!$A$2:$A$9</c:f>
              <c:strCache>
                <c:ptCount val="8"/>
                <c:pt idx="0">
                  <c:v>蔚来汽车</c:v>
                </c:pt>
                <c:pt idx="1">
                  <c:v>理想汽车</c:v>
                </c:pt>
                <c:pt idx="2">
                  <c:v>特斯拉</c:v>
                </c:pt>
                <c:pt idx="3">
                  <c:v>比亚迪</c:v>
                </c:pt>
                <c:pt idx="4">
                  <c:v>小鹏汽车</c:v>
                </c:pt>
                <c:pt idx="5">
                  <c:v>广汽埃安</c:v>
                </c:pt>
                <c:pt idx="6">
                  <c:v>长安深蓝</c:v>
                </c:pt>
                <c:pt idx="7">
                  <c:v>吉利银河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4.88</c:v>
                </c:pt>
                <c:pt idx="1">
                  <c:v>4.78</c:v>
                </c:pt>
                <c:pt idx="2">
                  <c:v>4.82</c:v>
                </c:pt>
                <c:pt idx="3">
                  <c:v>4.72</c:v>
                </c:pt>
                <c:pt idx="4">
                  <c:v>4.78</c:v>
                </c:pt>
                <c:pt idx="5">
                  <c:v>4.62</c:v>
                </c:pt>
                <c:pt idx="6">
                  <c:v>4.58</c:v>
                </c:pt>
                <c:pt idx="7">
                  <c:v>4.52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融资金额(亿元)</c:v>
                </c:pt>
              </c:strCache>
            </c:strRef>
          </c:tx>
          <c:spPr>
            <a:solidFill>
              <a:srgbClr val="3A0CA3"/>
            </a:solidFill>
          </c:spPr>
          <c:cat>
            <c:strRef>
              <c:f>Sheet1!$A$2:$A$8</c:f>
              <c:strCache>
                <c:ptCount val="7"/>
                <c:pt idx="0">
                  <c:v>2026-01-15</c:v>
                </c:pt>
                <c:pt idx="1">
                  <c:v>2026-02-08</c:v>
                </c:pt>
                <c:pt idx="2">
                  <c:v>2026-02-22</c:v>
                </c:pt>
                <c:pt idx="3">
                  <c:v>2026-03-12</c:v>
                </c:pt>
                <c:pt idx="4">
                  <c:v>2026-03-28</c:v>
                </c:pt>
                <c:pt idx="5">
                  <c:v>2026-04-15</c:v>
                </c:pt>
                <c:pt idx="6">
                  <c:v>2026-04-22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45.0</c:v>
                </c:pt>
                <c:pt idx="1">
                  <c:v>32.5</c:v>
                </c:pt>
                <c:pt idx="2">
                  <c:v>60.0</c:v>
                </c:pt>
                <c:pt idx="3">
                  <c:v>28.0</c:v>
                </c:pt>
                <c:pt idx="4">
                  <c:v>50.0</c:v>
                </c:pt>
                <c:pt idx="5">
                  <c:v>35.0</c:v>
                </c:pt>
                <c:pt idx="6">
                  <c:v>22.5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286000"/>
            <a:ext cx="11430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2026年1-4月中国新能源汽车行业深度分析报告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4290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Microsoft YaHei"/>
              </a:defRPr>
            </a:pPr>
            <a:r>
              <a:t>2026年1-4月，国内新能源汽车市场累计销量达286.5万辆，同比增长32.1%，市场渗透率持续提升至45.2%。本报告从销量、市场占比、增长趋势、细分市场等10个维度全面解析行业发展现状，所有数据均为行业模拟数据，可直接用于PPT制作与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9525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2026年1-4月新能源汽车品牌累计销量汇总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57250"/>
            <a:ext cx="5572125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累计销量(辆)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1000" y="1123950"/>
          <a:ext cx="5572125" cy="5353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8875" y="857250"/>
            <a:ext cx="5572125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市场占比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38875" y="1123950"/>
          <a:ext cx="5572125" cy="53530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9525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2026年1-4月新能源汽车品牌月度销量趋势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57250"/>
            <a:ext cx="114300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2026年1-4月新能源汽车品牌月度销量趋势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1000" y="1123950"/>
          <a:ext cx="11430000" cy="5353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9525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2026年1-4月新能源汽车细分市场销量占比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57250"/>
            <a:ext cx="5572125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累计销量(辆)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1000" y="1123950"/>
          <a:ext cx="5572125" cy="5353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8875" y="857250"/>
            <a:ext cx="5572125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同比增长率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38875" y="1123950"/>
          <a:ext cx="5572125" cy="53530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9525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2026年1-4月新能源汽车品牌同比增长率排名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57250"/>
            <a:ext cx="5572125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较行业平均差值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1000" y="1123950"/>
          <a:ext cx="5572125" cy="5353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8875" y="857250"/>
            <a:ext cx="5572125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同比增长率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38875" y="1123950"/>
          <a:ext cx="5572125" cy="53530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9525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2026年1-4月新能源汽车城市终端销量TOP10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57250"/>
            <a:ext cx="5572125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同比增长率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1000" y="1123950"/>
          <a:ext cx="5572125" cy="5353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8875" y="857250"/>
            <a:ext cx="5572125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市场渗透率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38875" y="1123950"/>
          <a:ext cx="5572125" cy="53530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9525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2026年1-4月新能源汽车动力类型市场分布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57250"/>
            <a:ext cx="5572125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累计销量(辆)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1000" y="1123950"/>
          <a:ext cx="5572125" cy="5353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8875" y="857250"/>
            <a:ext cx="5572125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同比增长率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38875" y="1123950"/>
          <a:ext cx="5572125" cy="53530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9525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2026年1-4月新能源汽车品牌单车均价排名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57250"/>
            <a:ext cx="114300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同比变动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1000" y="1123950"/>
          <a:ext cx="11430000" cy="5353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9525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2026年1-4月新能源汽车品牌出口量排名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57250"/>
            <a:ext cx="114300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同比增长率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1000" y="1123950"/>
          <a:ext cx="11430000" cy="5353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9525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2026年1-4月新能源汽车用户满意度评分排名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57250"/>
            <a:ext cx="36195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产品质量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1000" y="1123950"/>
          <a:ext cx="3619500" cy="5353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86250" y="857250"/>
            <a:ext cx="36195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售后服务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86250" y="1123950"/>
          <a:ext cx="3619500" cy="53530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91500" y="857250"/>
            <a:ext cx="36195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智能体验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191500" y="1123950"/>
          <a:ext cx="3619500" cy="53530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95250"/>
            <a:ext cx="1143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2026年1-4月新能源汽车行业投融资事件汇总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57250"/>
            <a:ext cx="114300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495E"/>
                </a:solidFill>
                <a:latin typeface="Microsoft YaHei"/>
              </a:defRPr>
            </a:pPr>
            <a:r>
              <a:t>融资金额(亿元)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1000" y="1123950"/>
          <a:ext cx="11430000" cy="5353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